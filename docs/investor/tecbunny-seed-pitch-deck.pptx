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685800"/>
            <a:ext cx="10881360" cy="5394960"/>
          </a:xfrm>
          <a:prstGeom prst="roundRect">
            <a:avLst>
              <a:gd name="adj" fmla="val 1356"/>
            </a:avLst>
          </a:prstGeom>
          <a:solidFill>
            <a:srgbClr val="13344F"/>
          </a:solidFill>
          <a:ln w="12700">
            <a:solidFill>
              <a:srgbClr val="326B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3716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Tecbunny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97280" y="2240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Pitch Deck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2880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E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ask: INR 50 lakh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3337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CC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July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5532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C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 For prospective investors only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091672" cy="54864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65760"/>
            <a:ext cx="11091672" cy="16459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685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Vision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60120" y="109728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86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trusted operating layer for digital commerce workflows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417320"/>
            <a:ext cx="9966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unified platform that helps teams launch, manage, and scale customer communication workflows.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operational complexity across product, support, and growth teams through one execution fabric.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 the default control plane for high-frequency customer journey automation in India-first SMB and mid-market segments.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091672" cy="54864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65760"/>
            <a:ext cx="11091672" cy="16459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685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Problem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60120" y="109728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86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are forced to stitch fragmented tools under constant time pressure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417320"/>
            <a:ext cx="9966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currently juggle multiple systems for messaging, analytics, compliance, and workflow orchestration.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Fragmentation creates delayed responses, inconsistent customer experiences, and avoidable manual work.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 lack a single source of truth for campaign performance, reliability, and risk management.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091672" cy="54864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65760"/>
            <a:ext cx="11091672" cy="16459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685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Solution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60120" y="109728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86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Tecbunny combines orchestration, governance, and insights in one platform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417320"/>
            <a:ext cx="9966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worker-based architecture for resilient message processing and automation.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Role-aware admin surfaces for operations, governance, and audit readiness.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telemetry and runtime readiness checks to improve reliability and trust.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091672" cy="54864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65760"/>
            <a:ext cx="11091672" cy="16459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685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Market Opportunity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60120" y="109728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86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and expanding need for workflow automation in digital-first businesses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TAM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148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</a:rPr>
              <a:t>INR 12,000 Cr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206240" y="1828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SAM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206240" y="2148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</a:rPr>
              <a:t>INR 2,200 Cr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315200" y="1828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SOM (3 yr)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0" y="2148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</a:rPr>
              <a:t>INR 120 Cr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97280" y="3063240"/>
            <a:ext cx="9692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wedge: SMB and mid-market brands requiring compliant multi-channel automation.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path: analytics products, premium governance modules, and enterprise integrations.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091672" cy="54864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65760"/>
            <a:ext cx="11091672" cy="16459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685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Business Model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60120" y="109728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86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software revenue with high-margin add-ons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417320"/>
            <a:ext cx="9966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tiers based on automation volume and advanced feature access.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and onboarding revenue for managed enterprise rollouts.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upside through premium modules: advanced compliance, intelligence, and integrations.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26680" y="1737360"/>
            <a:ext cx="3566160" cy="2560320"/>
          </a:xfrm>
          <a:prstGeom prst="roundRect">
            <a:avLst>
              <a:gd name="adj" fmla="val 2143"/>
            </a:avLst>
          </a:prstGeom>
          <a:solidFill>
            <a:srgbClr val="F2F7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01000" y="1920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Illustrative plan mix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01000" y="23317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Starter: INR 9,999 / month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01000" y="26517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Growth: INR 24,999 / month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01000" y="29718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Scale: INR 59,999 / month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01000" y="32918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Enterprise: custom contract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091672" cy="54864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65760"/>
            <a:ext cx="11091672" cy="16459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685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Traction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60120" y="109728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86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validation across product, reliability, and go-to-market readiness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51560" y="1828800"/>
            <a:ext cx="2423160" cy="1645920"/>
          </a:xfrm>
          <a:prstGeom prst="roundRect">
            <a:avLst>
              <a:gd name="adj" fmla="val 3333"/>
            </a:avLst>
          </a:prstGeom>
          <a:solidFill>
            <a:srgbClr val="EAF6ED"/>
          </a:solidFill>
          <a:ln w="12700">
            <a:solidFill>
              <a:srgbClr val="C7E7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20116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86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customers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34440" y="2331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234440" y="2926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6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pilots in target verticals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03320" y="1828800"/>
            <a:ext cx="2423160" cy="1645920"/>
          </a:xfrm>
          <a:prstGeom prst="roundRect">
            <a:avLst>
              <a:gd name="adj" fmla="val 3333"/>
            </a:avLst>
          </a:prstGeom>
          <a:solidFill>
            <a:srgbClr val="EAF6ED"/>
          </a:solidFill>
          <a:ln w="12700">
            <a:solidFill>
              <a:srgbClr val="C7E7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86200" y="20116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86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retention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86200" y="2331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108%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3886200" y="2926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6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within pilot cohort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55080" y="1828800"/>
            <a:ext cx="2423160" cy="1645920"/>
          </a:xfrm>
          <a:prstGeom prst="roundRect">
            <a:avLst>
              <a:gd name="adj" fmla="val 3333"/>
            </a:avLst>
          </a:prstGeom>
          <a:solidFill>
            <a:srgbClr val="EAF6ED"/>
          </a:solidFill>
          <a:ln w="12700">
            <a:solidFill>
              <a:srgbClr val="C7E7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20116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86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37960" y="2331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6537960" y="2926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6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core service layer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006840" y="1828800"/>
            <a:ext cx="2423160" cy="1645920"/>
          </a:xfrm>
          <a:prstGeom prst="roundRect">
            <a:avLst>
              <a:gd name="adj" fmla="val 3333"/>
            </a:avLst>
          </a:prstGeom>
          <a:solidFill>
            <a:srgbClr val="EAF6ED"/>
          </a:solidFill>
          <a:ln w="12700">
            <a:solidFill>
              <a:srgbClr val="C7E7C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89720" y="20116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86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89720" y="2331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+41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9189720" y="2926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6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sentiment from pilot users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97280" y="429768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29AB1"/>
                </a:solidFill>
              </a:rPr>
              <a:t>Replace these placeholders with current audited metrics before investor circulation.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091672" cy="54864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65760"/>
            <a:ext cx="11091672" cy="16459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685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Go-to-Market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60120" y="109728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86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Land-and-expand motion anchored in performance proof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417320"/>
            <a:ext cx="9966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through founder-led sales, partner referrals, and verticalized content.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with fast onboarding and measurable success criteria in first 30 days.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through usage growth, premium modules, and multi-team adoption within each account.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97280" y="3840480"/>
            <a:ext cx="96926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97764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Lead -&gt; Pilot -&gt; Annual Contract -&gt; Expansion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091672" cy="54864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65760"/>
            <a:ext cx="11091672" cy="16459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685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Competitive Positioning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60120" y="109728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86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depth and governance are our strongest differentiators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463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Key differentiators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783080"/>
            <a:ext cx="5029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reliability engineered for production-grade message throughput.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governance and audit pathways for regulated and enterprise-sensitive workflows.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command surface for operations, analytics, and risk controls.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92240" y="1737360"/>
            <a:ext cx="4480560" cy="2926080"/>
          </a:xfrm>
          <a:prstGeom prst="roundRect">
            <a:avLst>
              <a:gd name="adj" fmla="val 1563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0840" y="19202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Relative score (illustrative)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20840" y="233172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Reliability: 9/10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20840" y="265176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Governance: 9/10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720840" y="297180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Usability: 8/10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20840" y="329184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Extensibility: 8/10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091672" cy="54864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65760"/>
            <a:ext cx="11091672" cy="16459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685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Product Roadmap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60120" y="109728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86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sequence from core platform to intelligence-led expansion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280160" y="2651760"/>
            <a:ext cx="93268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2450592"/>
            <a:ext cx="411480" cy="41148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3017520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Q3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" y="3273552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</a:rPr>
              <a:t>Core scale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529584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6581"/>
                </a:solidFill>
              </a:rPr>
              <a:t>Reliability hardening + ops automation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40480" y="2450592"/>
            <a:ext cx="411480" cy="41148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3017520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Q4 2026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29000" y="3273552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</a:rPr>
              <a:t>Monetization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08960" y="3529584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6581"/>
                </a:solidFill>
              </a:rPr>
              <a:t>Tiered plans + self-serve onboarding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2450592"/>
            <a:ext cx="411480" cy="41148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06440" y="3017520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Q1 2027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15000" y="3273552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</a:rPr>
              <a:t>Expansion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94960" y="3529584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6581"/>
                </a:solidFill>
              </a:rPr>
              <a:t>Partner channels + enterprise controls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412480" y="2450592"/>
            <a:ext cx="411480" cy="41148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92440" y="3017520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Q2 2027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01000" y="3273552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</a:rPr>
              <a:t>Intelligence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680960" y="3529584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6581"/>
                </a:solidFill>
              </a:rPr>
              <a:t>Insights modules + predictive workflows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091672" cy="54864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65760"/>
            <a:ext cx="11091672" cy="16459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685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Technology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60120" y="109728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86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architecture built for resilience and controlled scale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417320"/>
            <a:ext cx="9966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boundaries and worker pipelines designed to isolate failures and protect throughput.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checks and quality gates integrated into release workflow.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Security-first development with role-based control surfaces and audit trails.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589520" y="1600200"/>
            <a:ext cx="3566160" cy="3108960"/>
          </a:xfrm>
          <a:prstGeom prst="roundRect">
            <a:avLst>
              <a:gd name="adj" fmla="val 1765"/>
            </a:avLst>
          </a:prstGeom>
          <a:solidFill>
            <a:srgbClr val="EEF4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18288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Architecture outcomes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63840" y="22402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Low-latency processing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63840" y="25603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Structured observability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863840" y="28803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Security &amp; compliance readiness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863840" y="32004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Enterprise integration path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091672" cy="54864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65760"/>
            <a:ext cx="11091672" cy="16459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685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Financial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60120" y="109728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86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disciplined growth and improving efficiency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371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Illustrative 5-year snapshot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78308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Metric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71800" y="17830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FY27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09160" y="17830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FY28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46520" y="17830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FY29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183880" y="17830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FY30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921240" y="17830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FY31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51560" y="2103120"/>
            <a:ext cx="10469880" cy="420624"/>
          </a:xfrm>
          <a:prstGeom prst="rect">
            <a:avLst/>
          </a:prstGeom>
          <a:solidFill>
            <a:srgbClr val="F8FBFD"/>
          </a:solidFill>
          <a:ln w="12700">
            <a:solidFill>
              <a:srgbClr val="E6EE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14884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02A43"/>
                </a:solidFill>
              </a:rPr>
              <a:t>Revenue (INR Cr)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71800" y="214884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2A43"/>
                </a:solidFill>
              </a:rPr>
              <a:t>0.8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09160" y="214884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2A43"/>
                </a:solidFill>
              </a:rPr>
              <a:t>2.6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46520" y="214884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2A43"/>
                </a:solidFill>
              </a:rPr>
              <a:t>6.0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183880" y="214884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2A43"/>
                </a:solidFill>
              </a:rPr>
              <a:t>11.2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921240" y="214884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2A43"/>
                </a:solidFill>
              </a:rPr>
              <a:t>17.5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51560" y="2606040"/>
            <a:ext cx="104698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E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265176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02A43"/>
                </a:solidFill>
              </a:rPr>
              <a:t>Gross Margin 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71800" y="265176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2A43"/>
                </a:solidFill>
              </a:rPr>
              <a:t>58%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09160" y="265176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2A43"/>
                </a:solidFill>
              </a:rPr>
              <a:t>64%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46520" y="265176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2A43"/>
                </a:solidFill>
              </a:rPr>
              <a:t>69%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183880" y="265176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2A43"/>
                </a:solidFill>
              </a:rPr>
              <a:t>72%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921240" y="265176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2A43"/>
                </a:solidFill>
              </a:rPr>
              <a:t>74%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51560" y="3108960"/>
            <a:ext cx="10469880" cy="420624"/>
          </a:xfrm>
          <a:prstGeom prst="rect">
            <a:avLst/>
          </a:prstGeom>
          <a:solidFill>
            <a:srgbClr val="F8FBFD"/>
          </a:solidFill>
          <a:ln w="12700">
            <a:solidFill>
              <a:srgbClr val="E6EE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315468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02A43"/>
                </a:solidFill>
              </a:rPr>
              <a:t>EBITDA Margin 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971800" y="315468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2A43"/>
                </a:solidFill>
              </a:rPr>
              <a:t>-58%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09160" y="315468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2A43"/>
                </a:solidFill>
              </a:rPr>
              <a:t>-25%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46520" y="315468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2A43"/>
                </a:solidFill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183880" y="315468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2A43"/>
                </a:solidFill>
              </a:rPr>
              <a:t>14%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921240" y="315468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2A43"/>
                </a:solidFill>
              </a:rPr>
              <a:t>22%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51560" y="3611880"/>
            <a:ext cx="104698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E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97280" y="365760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02A43"/>
                </a:solidFill>
              </a:rPr>
              <a:t>Runway (months)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971800" y="365760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2A43"/>
                </a:solidFill>
              </a:rPr>
              <a:t>22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09160" y="365760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2A43"/>
                </a:solidFill>
              </a:rPr>
              <a:t>16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46520" y="365760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2A43"/>
                </a:solidFill>
              </a:rPr>
              <a:t>-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183880" y="365760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2A43"/>
                </a:solidFill>
              </a:rPr>
              <a:t>-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921240" y="365760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2A43"/>
                </a:solidFill>
              </a:rPr>
              <a:t>-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97280" y="44805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29AB1"/>
                </a:solidFill>
              </a:rPr>
              <a:t>Replace with finalized model outputs before circulation.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091672" cy="54864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65760"/>
            <a:ext cx="11091672" cy="16459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685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Funding Ask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60120" y="109728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86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50 lakh to reach the next measurable value inflection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417320"/>
            <a:ext cx="9966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size: INR 50 lakh (seed) targeting 18-24 months of runway.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funds: product and reliability (40%), growth engine (35%), team and operations (20%), compliance reserve (5%).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Milestones: repeatable acquisition channel, improved retention, and readiness for larger institutional round.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0" y="1828800"/>
            <a:ext cx="3931920" cy="2651760"/>
          </a:xfrm>
          <a:prstGeom prst="roundRect">
            <a:avLst>
              <a:gd name="adj" fmla="val 2759"/>
            </a:avLst>
          </a:prstGeom>
          <a:solidFill>
            <a:srgbClr val="F1FAF4"/>
          </a:solidFill>
          <a:ln w="12700">
            <a:solidFill>
              <a:srgbClr val="CDE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0" y="2011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Milestones by Month 18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589520" y="242316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MRR &gt; INR 25 lakh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589520" y="274320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Net retention &gt; 115%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89520" y="30632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Payback &lt; 8 months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589520" y="33832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Enterprise-ready controls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091672" cy="54864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65760"/>
            <a:ext cx="11091672" cy="16459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685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Team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60120" y="109728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86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Execution-focused founders with product and systems depth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0" y="1691640"/>
            <a:ext cx="9966960" cy="960120"/>
          </a:xfrm>
          <a:prstGeom prst="roundRect">
            <a:avLst>
              <a:gd name="adj" fmla="val 4762"/>
            </a:avLst>
          </a:prstGeom>
          <a:solidFill>
            <a:srgbClr val="F8FBFD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191109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Founder / CEO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794760" y="1911096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A43"/>
                </a:solidFill>
              </a:rPr>
              <a:t>Business, GTM, and strategic partnerships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97280" y="2926080"/>
            <a:ext cx="99669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31455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Co-Founder / CTO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94760" y="3145536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A43"/>
                </a:solidFill>
              </a:rPr>
              <a:t>Architecture, platform reliability, and product engineering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97280" y="4160520"/>
            <a:ext cx="9966960" cy="960120"/>
          </a:xfrm>
          <a:prstGeom prst="roundRect">
            <a:avLst>
              <a:gd name="adj" fmla="val 4762"/>
            </a:avLst>
          </a:prstGeom>
          <a:solidFill>
            <a:srgbClr val="F8FBFD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17320" y="437997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Core Operators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94760" y="4379976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A43"/>
                </a:solidFill>
              </a:rPr>
              <a:t>Delivery, customer success, and compliance operations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92024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60120" y="292608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E2EC"/>
                </a:solidFill>
              </a:rPr>
              <a:t>Let us build the next trusted operating layer for digital commerce.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60120" y="3931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E6B4"/>
                </a:solidFill>
              </a:rPr>
              <a:t>Contact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42519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[Founder Name]  |  [Email]  |  [Phone]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5897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CCCDC"/>
                </a:solidFill>
              </a:rPr>
              <a:t>Confidential - Not for redistribution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Tecbunny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Tecbunny Seed Pitch Deck</dc:title>
  <dc:subject>Seed fundraising pitch deck</dc:subject>
  <dc:creator>Tecbunny</dc:creator>
  <cp:lastModifiedBy>Tecbunny</cp:lastModifiedBy>
  <cp:revision>1</cp:revision>
  <dcterms:created xsi:type="dcterms:W3CDTF">2026-07-27T02:10:13Z</dcterms:created>
  <dcterms:modified xsi:type="dcterms:W3CDTF">2026-07-27T02:10:13Z</dcterms:modified>
</cp:coreProperties>
</file>